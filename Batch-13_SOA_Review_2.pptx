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5064D9-BCEB-46DD-8904-3C6F5672CCA6}" v="2" dt="2026-09-22T04:44:40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kongari8845@gmail.com" userId="c6ff66c05651282b" providerId="LiveId" clId="{062C77A7-07B2-4617-A2BF-0E50FE25A043}"/>
    <pc:docChg chg="undo custSel addSld modSld sldOrd">
      <pc:chgData name="abhinavkongari8845@gmail.com" userId="c6ff66c05651282b" providerId="LiveId" clId="{062C77A7-07B2-4617-A2BF-0E50FE25A043}" dt="2026-09-22T10:07:47.036" v="34" actId="20577"/>
      <pc:docMkLst>
        <pc:docMk/>
      </pc:docMkLst>
      <pc:sldChg chg="modSp mod">
        <pc:chgData name="abhinavkongari8845@gmail.com" userId="c6ff66c05651282b" providerId="LiveId" clId="{062C77A7-07B2-4617-A2BF-0E50FE25A043}" dt="2026-09-22T06:59:55.688" v="33" actId="20577"/>
        <pc:sldMkLst>
          <pc:docMk/>
          <pc:sldMk cId="0" sldId="257"/>
        </pc:sldMkLst>
        <pc:spChg chg="mod">
          <ac:chgData name="abhinavkongari8845@gmail.com" userId="c6ff66c05651282b" providerId="LiveId" clId="{062C77A7-07B2-4617-A2BF-0E50FE25A043}" dt="2026-09-22T06:59:55.688" v="33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abhinavkongari8845@gmail.com" userId="c6ff66c05651282b" providerId="LiveId" clId="{062C77A7-07B2-4617-A2BF-0E50FE25A043}" dt="2026-09-22T06:59:29.669" v="29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bhinavkongari8845@gmail.com" userId="c6ff66c05651282b" providerId="LiveId" clId="{062C77A7-07B2-4617-A2BF-0E50FE25A043}" dt="2026-09-22T06:59:43.135" v="31" actId="20577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abhinavkongari8845@gmail.com" userId="c6ff66c05651282b" providerId="LiveId" clId="{062C77A7-07B2-4617-A2BF-0E50FE25A043}" dt="2026-09-22T06:41:25.979" v="13" actId="20577"/>
        <pc:sldMkLst>
          <pc:docMk/>
          <pc:sldMk cId="0" sldId="258"/>
        </pc:sldMkLst>
        <pc:spChg chg="mod">
          <ac:chgData name="abhinavkongari8845@gmail.com" userId="c6ff66c05651282b" providerId="LiveId" clId="{062C77A7-07B2-4617-A2BF-0E50FE25A043}" dt="2026-09-22T06:41:25.979" v="13" actId="20577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abhinavkongari8845@gmail.com" userId="c6ff66c05651282b" providerId="LiveId" clId="{062C77A7-07B2-4617-A2BF-0E50FE25A043}" dt="2026-09-22T06:41:36.679" v="15" actId="20577"/>
        <pc:sldMkLst>
          <pc:docMk/>
          <pc:sldMk cId="0" sldId="259"/>
        </pc:sldMkLst>
        <pc:spChg chg="mod">
          <ac:chgData name="abhinavkongari8845@gmail.com" userId="c6ff66c05651282b" providerId="LiveId" clId="{062C77A7-07B2-4617-A2BF-0E50FE25A043}" dt="2026-09-22T06:41:33.319" v="14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bhinavkongari8845@gmail.com" userId="c6ff66c05651282b" providerId="LiveId" clId="{062C77A7-07B2-4617-A2BF-0E50FE25A043}" dt="2026-09-22T06:41:36.679" v="15" actId="20577"/>
          <ac:spMkLst>
            <pc:docMk/>
            <pc:sldMk cId="0" sldId="259"/>
            <ac:spMk id="23" creationId="{00000000-0000-0000-0000-000000000000}"/>
          </ac:spMkLst>
        </pc:spChg>
      </pc:sldChg>
      <pc:sldChg chg="modSp mod">
        <pc:chgData name="abhinavkongari8845@gmail.com" userId="c6ff66c05651282b" providerId="LiveId" clId="{062C77A7-07B2-4617-A2BF-0E50FE25A043}" dt="2026-09-22T06:41:54.776" v="20" actId="20577"/>
        <pc:sldMkLst>
          <pc:docMk/>
          <pc:sldMk cId="0" sldId="260"/>
        </pc:sldMkLst>
        <pc:spChg chg="mod">
          <ac:chgData name="abhinavkongari8845@gmail.com" userId="c6ff66c05651282b" providerId="LiveId" clId="{062C77A7-07B2-4617-A2BF-0E50FE25A043}" dt="2026-09-22T06:41:42.924" v="16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abhinavkongari8845@gmail.com" userId="c6ff66c05651282b" providerId="LiveId" clId="{062C77A7-07B2-4617-A2BF-0E50FE25A043}" dt="2026-09-22T06:41:46.863" v="17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bhinavkongari8845@gmail.com" userId="c6ff66c05651282b" providerId="LiveId" clId="{062C77A7-07B2-4617-A2BF-0E50FE25A043}" dt="2026-09-22T06:41:49.666" v="18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bhinavkongari8845@gmail.com" userId="c6ff66c05651282b" providerId="LiveId" clId="{062C77A7-07B2-4617-A2BF-0E50FE25A043}" dt="2026-09-22T06:41:52.357" v="19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bhinavkongari8845@gmail.com" userId="c6ff66c05651282b" providerId="LiveId" clId="{062C77A7-07B2-4617-A2BF-0E50FE25A043}" dt="2026-09-22T06:41:54.776" v="20" actId="20577"/>
          <ac:spMkLst>
            <pc:docMk/>
            <pc:sldMk cId="0" sldId="260"/>
            <ac:spMk id="27" creationId="{00000000-0000-0000-0000-000000000000}"/>
          </ac:spMkLst>
        </pc:spChg>
      </pc:sldChg>
      <pc:sldChg chg="modSp mod">
        <pc:chgData name="abhinavkongari8845@gmail.com" userId="c6ff66c05651282b" providerId="LiveId" clId="{062C77A7-07B2-4617-A2BF-0E50FE25A043}" dt="2026-09-22T10:07:47.036" v="34" actId="20577"/>
        <pc:sldMkLst>
          <pc:docMk/>
          <pc:sldMk cId="0" sldId="262"/>
        </pc:sldMkLst>
        <pc:spChg chg="mod">
          <ac:chgData name="abhinavkongari8845@gmail.com" userId="c6ff66c05651282b" providerId="LiveId" clId="{062C77A7-07B2-4617-A2BF-0E50FE25A043}" dt="2026-09-22T10:07:47.036" v="34" actId="20577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abhinavkongari8845@gmail.com" userId="c6ff66c05651282b" providerId="LiveId" clId="{062C77A7-07B2-4617-A2BF-0E50FE25A043}" dt="2026-09-22T06:42:30.617" v="27" actId="20577"/>
        <pc:sldMkLst>
          <pc:docMk/>
          <pc:sldMk cId="0" sldId="264"/>
        </pc:sldMkLst>
        <pc:spChg chg="mod">
          <ac:chgData name="abhinavkongari8845@gmail.com" userId="c6ff66c05651282b" providerId="LiveId" clId="{062C77A7-07B2-4617-A2BF-0E50FE25A043}" dt="2026-09-22T06:42:13.974" v="23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bhinavkongari8845@gmail.com" userId="c6ff66c05651282b" providerId="LiveId" clId="{062C77A7-07B2-4617-A2BF-0E50FE25A043}" dt="2026-09-22T06:42:30.617" v="27" actId="20577"/>
          <ac:spMkLst>
            <pc:docMk/>
            <pc:sldMk cId="0" sldId="264"/>
            <ac:spMk id="15" creationId="{00000000-0000-0000-0000-000000000000}"/>
          </ac:spMkLst>
        </pc:spChg>
      </pc:sldChg>
      <pc:sldChg chg="addSp modSp new mod ord">
        <pc:chgData name="abhinavkongari8845@gmail.com" userId="c6ff66c05651282b" providerId="LiveId" clId="{062C77A7-07B2-4617-A2BF-0E50FE25A043}" dt="2026-09-22T06:35:54.021" v="12"/>
        <pc:sldMkLst>
          <pc:docMk/>
          <pc:sldMk cId="1189756044" sldId="268"/>
        </pc:sldMkLst>
        <pc:spChg chg="add mod">
          <ac:chgData name="abhinavkongari8845@gmail.com" userId="c6ff66c05651282b" providerId="LiveId" clId="{062C77A7-07B2-4617-A2BF-0E50FE25A043}" dt="2026-09-22T04:44:18.586" v="6" actId="1076"/>
          <ac:spMkLst>
            <pc:docMk/>
            <pc:sldMk cId="1189756044" sldId="268"/>
            <ac:spMk id="4" creationId="{C6E095E6-9B83-7969-FBF0-67C039ECAFAE}"/>
          </ac:spMkLst>
        </pc:spChg>
        <pc:picChg chg="add mod">
          <ac:chgData name="abhinavkongari8845@gmail.com" userId="c6ff66c05651282b" providerId="LiveId" clId="{062C77A7-07B2-4617-A2BF-0E50FE25A043}" dt="2026-09-22T04:43:54.091" v="2" actId="1076"/>
          <ac:picMkLst>
            <pc:docMk/>
            <pc:sldMk cId="1189756044" sldId="268"/>
            <ac:picMk id="2" creationId="{DBC376C1-3593-2325-4610-D933D5FE29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6345C"/>
                </a:solidFill>
              </a:defRPr>
            </a:pPr>
            <a:r>
              <a:t>AgriIQ</a:t>
            </a:r>
          </a:p>
          <a:p>
            <a:pPr>
              <a:defRPr sz="2500">
                <a:solidFill>
                  <a:srgbClr val="232A32"/>
                </a:solidFill>
              </a:defRPr>
            </a:pPr>
            <a:r>
              <a:t>AI-Driven Crop Recommendation &amp; Agricultural Advisory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7825B"/>
                </a:solidFill>
              </a:defRPr>
            </a:pPr>
            <a:r>
              <a:t>PROJECT REVIEW – 2</a:t>
            </a:r>
          </a:p>
          <a:p>
            <a:pPr>
              <a:defRPr sz="1800">
                <a:solidFill>
                  <a:srgbClr val="5F6973"/>
                </a:solidFill>
              </a:defRPr>
            </a:pPr>
            <a:r>
              <a:t>Project Design • Methodology • Technical Soundness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66344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KONGARI ABHINAV — 2420030263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SONTIREDDY SRINIKA — 2420030617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ISRAJIWADI SRIVALLI — 2420030742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Under the guidance of Dr. Neelima Gogineni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45C"/>
                </a:solidFill>
              </a:defRPr>
            </a:pPr>
            <a:r>
              <a:t>Review 2 — Scope and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64008" cy="1828800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99616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1. Project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93392"/>
            <a:ext cx="3134512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Service-oriented architecture with Gateway</a:t>
            </a:r>
            <a:br>
              <a:rPr lang="en-US" dirty="0"/>
            </a:br>
            <a:r>
              <a:rPr dirty="0"/>
              <a:t>, Auth, Crop Recommendation</a:t>
            </a:r>
            <a:br>
              <a:rPr lang="en-US" dirty="0"/>
            </a:br>
            <a:r>
              <a:rPr dirty="0"/>
              <a:t> and Advisory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64008" cy="1828800"/>
          </a:xfrm>
          <a:prstGeom prst="rect">
            <a:avLst/>
          </a:prstGeom>
          <a:solidFill>
            <a:srgbClr val="27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499616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2. Methodology Adopted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93392"/>
            <a:ext cx="2558264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Incremental development: </a:t>
            </a:r>
            <a:br>
              <a:rPr lang="en-US" dirty="0"/>
            </a:br>
            <a:r>
              <a:rPr dirty="0"/>
              <a:t>architecture → database → service</a:t>
            </a:r>
            <a:br>
              <a:rPr lang="en-US" dirty="0"/>
            </a:br>
            <a:r>
              <a:rPr dirty="0"/>
              <a:t> implementation → API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64008" cy="1828800"/>
          </a:xfrm>
          <a:prstGeom prst="rect">
            <a:avLst/>
          </a:prstGeom>
          <a:solidFill>
            <a:srgbClr val="E1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499616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3. Technical Soundness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93392"/>
            <a:ext cx="2420214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Spring Boot, Spring Security, JWT</a:t>
            </a:r>
            <a:br>
              <a:rPr lang="en-US" dirty="0"/>
            </a:br>
            <a:r>
              <a:rPr dirty="0"/>
              <a:t>, JPA/Hibernate, MySQL </a:t>
            </a:r>
            <a:br>
              <a:rPr lang="en-US" dirty="0"/>
            </a:br>
            <a:r>
              <a:rPr dirty="0"/>
              <a:t>and Postman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Current implemented milestone: Auth Service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Registration and login APIs tested successfully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User data verified in MySQL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JWT token generation verified through Postman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Remaining services will be integrated in later phases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45C"/>
                </a:solidFill>
              </a:defRPr>
            </a:pPr>
            <a:r>
              <a:t>Project Design — Problem and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64008" cy="4480560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08176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01952"/>
            <a:ext cx="4989764" cy="10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lang="en-US" dirty="0"/>
              <a:t>Farmers may select crops using traditional knowledge or guesswork</a:t>
            </a:r>
            <a:br>
              <a:rPr lang="en-US" dirty="0"/>
            </a:br>
            <a:r>
              <a:rPr lang="en-US" dirty="0"/>
              <a:t> instead of soil and weather conditions. Timely fertilizer, irrigation </a:t>
            </a:r>
            <a:br>
              <a:rPr lang="en-US" dirty="0"/>
            </a:br>
            <a:r>
              <a:rPr lang="en-US" dirty="0"/>
              <a:t>and pest guidance may also be difficult to access. </a:t>
            </a:r>
            <a:r>
              <a:rPr lang="en-US" dirty="0" err="1"/>
              <a:t>AgriIQ</a:t>
            </a:r>
            <a:r>
              <a:rPr lang="en-US" dirty="0"/>
              <a:t> addresses this</a:t>
            </a:r>
            <a:br>
              <a:rPr lang="en-US" dirty="0"/>
            </a:br>
            <a:r>
              <a:rPr lang="en-US" dirty="0"/>
              <a:t> through one connected platform.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64008" cy="4480560"/>
          </a:xfrm>
          <a:prstGeom prst="rect">
            <a:avLst/>
          </a:prstGeom>
          <a:solidFill>
            <a:srgbClr val="27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08176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4937759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• Build AgriIQ using SOA/microservices.</a:t>
            </a:r>
            <a:br/>
            <a:r>
              <a:t>• Recommend crops using N, P, K, pH, temperature, humidity and rainfall.</a:t>
            </a:r>
            <a:br/>
            <a:r>
              <a:t>• Provide crop-specific agricultural advisory.</a:t>
            </a:r>
            <a:br/>
            <a:r>
              <a:t>• Secure services using JWT and role-based access.</a:t>
            </a:r>
            <a:br/>
            <a:r>
              <a:t>• Use database-per-service and validate APIs using Postman.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DBC376C1-3593-2325-4610-D933D5FE2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00" y="1520687"/>
            <a:ext cx="10269383" cy="47608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E095E6-9B83-7969-FBF0-67C039ECAFAE}"/>
              </a:ext>
            </a:extLst>
          </p:cNvPr>
          <p:cNvSpPr txBox="1"/>
          <p:nvPr/>
        </p:nvSpPr>
        <p:spPr>
          <a:xfrm>
            <a:off x="260177" y="474247"/>
            <a:ext cx="1067790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Project Architecture/Project Overview:</a:t>
            </a:r>
            <a:br>
              <a:rPr lang="en-IN" sz="44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75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45C"/>
                </a:solidFill>
              </a:defRPr>
            </a:pPr>
            <a:r>
              <a:t>Project Design —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46888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4480560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53895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47672"/>
            <a:ext cx="21031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React.js Frontend</a:t>
            </a:r>
            <a:br/>
            <a:r>
              <a:t>(Web / Mobile)</a:t>
            </a:r>
            <a:br/>
            <a:br/>
            <a:r>
              <a:t>Sends HTTPS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46888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325880"/>
            <a:ext cx="64008" cy="4480560"/>
          </a:xfrm>
          <a:prstGeom prst="rect">
            <a:avLst/>
          </a:prstGeom>
          <a:solidFill>
            <a:srgbClr val="27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453895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47672"/>
            <a:ext cx="21031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Spring Cloud Gateway</a:t>
            </a:r>
            <a:br/>
            <a:br/>
            <a:r>
              <a:t>• Single entry point</a:t>
            </a:r>
            <a:br/>
            <a:r>
              <a:t>• Route requests</a:t>
            </a:r>
            <a:br/>
            <a:r>
              <a:t>• JWT validation</a:t>
            </a:r>
            <a:br/>
            <a:r>
              <a:t>• Security / rate limiting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051560"/>
            <a:ext cx="25603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051560"/>
            <a:ext cx="64008" cy="1828800"/>
          </a:xfrm>
          <a:prstGeom prst="rect">
            <a:avLst/>
          </a:prstGeom>
          <a:solidFill>
            <a:srgbClr val="E1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179576"/>
            <a:ext cx="2240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Auth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73352"/>
            <a:ext cx="2390270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Registration, login, JWT issuance</a:t>
            </a:r>
            <a:br>
              <a:rPr lang="en-US" dirty="0"/>
            </a:br>
            <a:r>
              <a:rPr dirty="0"/>
              <a:t> and role management.</a:t>
            </a:r>
            <a:br>
              <a:rPr dirty="0"/>
            </a:br>
            <a:br>
              <a:rPr dirty="0"/>
            </a:br>
            <a:r>
              <a:rPr dirty="0"/>
              <a:t>MySQL: </a:t>
            </a:r>
            <a:r>
              <a:rPr dirty="0" err="1"/>
              <a:t>authdb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035040" y="3063240"/>
            <a:ext cx="25603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3063240"/>
            <a:ext cx="64008" cy="1828800"/>
          </a:xfrm>
          <a:prstGeom prst="rect">
            <a:avLst/>
          </a:prstGeom>
          <a:solidFill>
            <a:srgbClr val="27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3191256"/>
            <a:ext cx="2240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Crop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85032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Soil/weather inputs → recommended crop.</a:t>
            </a:r>
            <a:br/>
            <a:br/>
            <a:r>
              <a:t>MySQL: cropdb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057400"/>
            <a:ext cx="2560320" cy="2194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15400" y="2057400"/>
            <a:ext cx="64008" cy="2194560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2185416"/>
            <a:ext cx="2240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Advisory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79192"/>
            <a:ext cx="2441053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Crop-wise fertilizer, irrigation and</a:t>
            </a:r>
            <a:br>
              <a:rPr lang="en-US" dirty="0"/>
            </a:br>
            <a:r>
              <a:rPr dirty="0"/>
              <a:t> pest-management guidance.</a:t>
            </a:r>
            <a:br>
              <a:rPr dirty="0"/>
            </a:br>
            <a:br>
              <a:rPr dirty="0"/>
            </a:br>
            <a:r>
              <a:rPr dirty="0"/>
              <a:t>MySQL: </a:t>
            </a:r>
            <a:r>
              <a:rPr dirty="0" err="1"/>
              <a:t>advisorydb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915400" y="47091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345C"/>
                </a:solidFill>
              </a:defRPr>
            </a:pPr>
            <a:r>
              <a:t>Eureka: service registration /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45C"/>
                </a:solidFill>
              </a:defRPr>
            </a:pPr>
            <a:r>
              <a:t>Methodology Adopted — Auth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64008" cy="1874519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08176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1.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01952"/>
            <a:ext cx="28436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Spring Boot + Maven project; configure</a:t>
            </a:r>
            <a:br>
              <a:rPr lang="en-US" dirty="0"/>
            </a:br>
            <a:r>
              <a:rPr dirty="0"/>
              <a:t> MySQL connection.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801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64008" cy="1874519"/>
          </a:xfrm>
          <a:prstGeom prst="rect">
            <a:avLst/>
          </a:prstGeom>
          <a:solidFill>
            <a:srgbClr val="27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408176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2. 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01952"/>
            <a:ext cx="245843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JPA entity + repository; Hibernate</a:t>
            </a:r>
            <a:br>
              <a:rPr lang="en-US" dirty="0"/>
            </a:br>
            <a:r>
              <a:rPr dirty="0"/>
              <a:t> creates/updates users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64008" cy="1874519"/>
          </a:xfrm>
          <a:prstGeom prst="rect">
            <a:avLst/>
          </a:prstGeom>
          <a:solidFill>
            <a:srgbClr val="E1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408176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3.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01952"/>
            <a:ext cx="310559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 err="1"/>
              <a:t>BCrypt</a:t>
            </a:r>
            <a:r>
              <a:rPr dirty="0"/>
              <a:t> password hashing + Spring Security </a:t>
            </a:r>
            <a:br>
              <a:rPr lang="en-US" dirty="0"/>
            </a:br>
            <a:r>
              <a:rPr dirty="0"/>
              <a:t>configuration.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64008" cy="1874519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694176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4.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187952"/>
            <a:ext cx="310896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REST endpoints for register and login.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5661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566160"/>
            <a:ext cx="64008" cy="1874519"/>
          </a:xfrm>
          <a:prstGeom prst="rect">
            <a:avLst/>
          </a:prstGeom>
          <a:solidFill>
            <a:srgbClr val="27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694176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5. 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187952"/>
            <a:ext cx="280839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Generate signed token after successful</a:t>
            </a:r>
            <a:br>
              <a:rPr lang="en-US" dirty="0"/>
            </a:br>
            <a:r>
              <a:rPr dirty="0"/>
              <a:t> authentication.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5661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3566160"/>
            <a:ext cx="64008" cy="1874519"/>
          </a:xfrm>
          <a:prstGeom prst="rect">
            <a:avLst/>
          </a:prstGeom>
          <a:solidFill>
            <a:srgbClr val="E1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694176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6.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87952"/>
            <a:ext cx="315464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Build with Maven; test APIs using Postman; </a:t>
            </a:r>
            <a:br>
              <a:rPr lang="en-US" dirty="0"/>
            </a:br>
            <a:r>
              <a:rPr dirty="0"/>
              <a:t>verify database in MySQL.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45C"/>
                </a:solidFill>
              </a:defRPr>
            </a:pPr>
            <a:r>
              <a:t>Technical Soundness — Technologies and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Spring Boot: REST API and application framework.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Spring Security: authentication/security configuration.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JWT (JJWT): token generation for stateless authentication.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BCrypt: one-way password hashing before database storage.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Spring Data JPA + Hibernate: object-relational mapping and persistence.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MySQL: authdb database and users table.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Maven: dependency management and project build.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Postman: API request/response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45C"/>
                </a:solidFill>
              </a:defRPr>
            </a:pPr>
            <a:r>
              <a:t>Technical Validation — MySQL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475488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4389120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53895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Database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47672"/>
            <a:ext cx="4814651" cy="14927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Database: </a:t>
            </a:r>
            <a:r>
              <a:rPr dirty="0" err="1"/>
              <a:t>authdb</a:t>
            </a:r>
            <a:br>
              <a:rPr dirty="0"/>
            </a:br>
            <a:r>
              <a:rPr dirty="0"/>
              <a:t>Table: users</a:t>
            </a:r>
            <a:br>
              <a:rPr dirty="0"/>
            </a:br>
            <a:br>
              <a:rPr dirty="0"/>
            </a:br>
            <a:r>
              <a:rPr dirty="0"/>
              <a:t>A registered user was successfully persisted through the application.</a:t>
            </a:r>
            <a:br>
              <a:rPr dirty="0"/>
            </a:br>
            <a:br>
              <a:rPr dirty="0"/>
            </a:br>
            <a:r>
              <a:rPr dirty="0"/>
              <a:t>The password column contains a </a:t>
            </a:r>
            <a:r>
              <a:rPr dirty="0" err="1"/>
              <a:t>BCrypt</a:t>
            </a:r>
            <a:r>
              <a:rPr dirty="0"/>
              <a:t> hash, not the original </a:t>
            </a:r>
            <a:br>
              <a:rPr lang="en-US" dirty="0"/>
            </a:br>
            <a:r>
              <a:rPr dirty="0"/>
              <a:t>password.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23560" y="155448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634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1634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1634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163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ramesh@gmail.com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$2a$10$...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2026-09-22 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0" y="3977639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825B"/>
                </a:solidFill>
              </a:defRPr>
            </a:pPr>
            <a:r>
              <a:t>Evidence: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Spring Boot → JPA/Hibernate → MySQL persistence is working.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45C"/>
                </a:solidFill>
              </a:defRPr>
            </a:pPr>
            <a:r>
              <a:t>Working Output — Postman Login Test</a:t>
            </a:r>
          </a:p>
        </p:txBody>
      </p:sp>
      <p:pic>
        <p:nvPicPr>
          <p:cNvPr id="4" name="Picture 3" descr="2b56e057-93c8-41ac-99c3-8c7623ce8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62732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45C"/>
                </a:solidFill>
              </a:defRPr>
            </a:pPr>
            <a:r>
              <a:t>Working Output — Register and Login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74320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64008" cy="4480560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53895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237744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POST /api/auth/register</a:t>
            </a:r>
            <a:br/>
            <a:br/>
            <a:r>
              <a:t>Request contains username, email, password and role.</a:t>
            </a:r>
            <a:br/>
            <a:br/>
            <a:r>
              <a:t>Password is hashed with BCrypt.</a:t>
            </a:r>
            <a:br/>
            <a:br/>
            <a:r>
              <a:t>Response: 201 Created + JWT.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25880"/>
            <a:ext cx="274320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66160" y="1325880"/>
            <a:ext cx="64008" cy="4480560"/>
          </a:xfrm>
          <a:prstGeom prst="rect">
            <a:avLst/>
          </a:prstGeom>
          <a:solidFill>
            <a:srgbClr val="27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453895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47672"/>
            <a:ext cx="2467855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JPA/Hibernate persists the user in</a:t>
            </a:r>
            <a:br>
              <a:rPr lang="en-US" dirty="0"/>
            </a:br>
            <a:r>
              <a:rPr dirty="0"/>
              <a:t> </a:t>
            </a:r>
            <a:r>
              <a:rPr dirty="0" err="1"/>
              <a:t>authdb.users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MySQL verification showed the </a:t>
            </a:r>
            <a:br>
              <a:rPr lang="en-US" dirty="0"/>
            </a:br>
            <a:r>
              <a:rPr dirty="0"/>
              <a:t>registered record and </a:t>
            </a:r>
            <a:r>
              <a:rPr dirty="0" err="1"/>
              <a:t>BCrypt</a:t>
            </a:r>
            <a:r>
              <a:rPr dirty="0"/>
              <a:t> </a:t>
            </a:r>
            <a:br>
              <a:rPr lang="en-US" dirty="0"/>
            </a:br>
            <a:r>
              <a:rPr dirty="0"/>
              <a:t>password hash.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274320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325880"/>
            <a:ext cx="64008" cy="4480560"/>
          </a:xfrm>
          <a:prstGeom prst="rect">
            <a:avLst/>
          </a:prstGeom>
          <a:solidFill>
            <a:srgbClr val="E1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1453895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947672"/>
            <a:ext cx="2318648" cy="14927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/auth/login</a:t>
            </a:r>
            <a:br>
              <a:rPr dirty="0"/>
            </a:br>
            <a:br>
              <a:rPr dirty="0"/>
            </a:br>
            <a:r>
              <a:rPr dirty="0"/>
              <a:t>Request contains</a:t>
            </a:r>
            <a:br>
              <a:rPr lang="en-US" dirty="0"/>
            </a:br>
            <a:r>
              <a:rPr dirty="0"/>
              <a:t> username + password.</a:t>
            </a:r>
            <a:br>
              <a:rPr dirty="0"/>
            </a:br>
            <a:br>
              <a:rPr dirty="0"/>
            </a:br>
            <a:r>
              <a:rPr dirty="0"/>
              <a:t>Credentials are verified against </a:t>
            </a:r>
            <a:br>
              <a:rPr lang="en-US" dirty="0"/>
            </a:br>
            <a:r>
              <a:rPr dirty="0"/>
              <a:t>the stored hash.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325880"/>
            <a:ext cx="210312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09760" y="1325880"/>
            <a:ext cx="64008" cy="4480560"/>
          </a:xfrm>
          <a:prstGeom prst="rect">
            <a:avLst/>
          </a:prstGeom>
          <a:solidFill>
            <a:srgbClr val="16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1453895"/>
            <a:ext cx="1783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JWT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947672"/>
            <a:ext cx="173736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Successful login returns:</a:t>
            </a:r>
            <a:br/>
            <a:br/>
            <a:r>
              <a:t>• JWT token</a:t>
            </a:r>
            <a:br/>
            <a:r>
              <a:t>• username</a:t>
            </a:r>
            <a:br/>
            <a:r>
              <a:t>• role</a:t>
            </a:r>
            <a:br/>
            <a:r>
              <a:t>• success 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45C"/>
                </a:solidFill>
              </a:defRPr>
            </a:pPr>
            <a:r>
              <a:t>Technical Soundness — Evidence and Current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4480560"/>
          </a:xfrm>
          <a:prstGeom prst="rect">
            <a:avLst/>
          </a:prstGeom>
          <a:solidFill>
            <a:srgbClr val="27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53895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Implemented and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47672"/>
            <a:ext cx="4937759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✓ Maven build completed successfully.</a:t>
            </a:r>
            <a:br/>
            <a:r>
              <a:t>✓ Spring Boot service runs on port 8081.</a:t>
            </a:r>
            <a:br/>
            <a:r>
              <a:t>✓ MySQL authdb/users persistence verified.</a:t>
            </a:r>
            <a:br/>
            <a:r>
              <a:t>✓ Registration returned 201 Created.</a:t>
            </a:r>
            <a:br/>
            <a:r>
              <a:t>✓ Login returned 200 OK.</a:t>
            </a:r>
            <a:br/>
            <a:r>
              <a:t>✓ JWT token was generated.</a:t>
            </a:r>
            <a:br/>
            <a:r>
              <a:t>✓ BCrypt hash observed in the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64008" cy="4480560"/>
          </a:xfrm>
          <a:prstGeom prst="rect">
            <a:avLst/>
          </a:prstGeom>
          <a:solidFill>
            <a:srgbClr val="E1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53895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345C"/>
                </a:solidFill>
              </a:defRPr>
            </a:pPr>
            <a:r>
              <a:t>Remaining Integration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47672"/>
            <a:ext cx="4937759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• Integrate Spring Cloud Gateway.</a:t>
            </a:r>
            <a:br/>
            <a:r>
              <a:t>• Complete Eureka-based service discovery.</a:t>
            </a:r>
            <a:br/>
            <a:r>
              <a:t>• Implement Crop Recommendation Service.</a:t>
            </a:r>
            <a:br/>
            <a:r>
              <a:t>• Implement Advisory Service.</a:t>
            </a:r>
            <a:br/>
            <a:r>
              <a:t>• Connect React frontend.</a:t>
            </a:r>
            <a:br/>
            <a:r>
              <a:t>• Add end-to-end API/security testing and CI/CD.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45C"/>
                </a:solidFill>
              </a:defRPr>
            </a:pPr>
            <a:r>
              <a:t>Next Phase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Crop Recommendation Service: validated N, P, K, pH, temperature, humidity and rainfall inputs.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Recommendation logic: rule-based engine as stated in the project plan.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Advisory Service: crop-wise fertilizer, irrigation and pest-management guidance.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Gateway integration: route requests and validate JWT.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Eureka: register/discover independent services.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React frontend: user-facing interface for the completed services.</a:t>
            </a:r>
          </a:p>
          <a:p>
            <a:pPr>
              <a:spcAft>
                <a:spcPts val="900"/>
              </a:spcAft>
              <a:defRPr sz="1700">
                <a:solidFill>
                  <a:srgbClr val="232A32"/>
                </a:solidFill>
              </a:defRPr>
            </a:pPr>
            <a:r>
              <a:t>• Final validation: Postman collection, end-to-end testing and CI/CD.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345C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A32"/>
                </a:solidFill>
              </a:defRPr>
            </a:pPr>
            <a:r>
              <a:t>• AgriIQ follows a service-oriented design for crop recommendation and agricultural advisory.</a:t>
            </a:r>
          </a:p>
          <a:p>
            <a:pPr>
              <a:spcAft>
                <a:spcPts val="900"/>
              </a:spcAft>
              <a:defRPr sz="2000">
                <a:solidFill>
                  <a:srgbClr val="232A32"/>
                </a:solidFill>
              </a:defRPr>
            </a:pPr>
            <a:r>
              <a:t>• The Auth Service is the first implemented milestone for Review 2.</a:t>
            </a:r>
          </a:p>
          <a:p>
            <a:pPr>
              <a:spcAft>
                <a:spcPts val="900"/>
              </a:spcAft>
              <a:defRPr sz="2000">
                <a:solidFill>
                  <a:srgbClr val="232A32"/>
                </a:solidFill>
              </a:defRPr>
            </a:pPr>
            <a:r>
              <a:t>• Registration, secure password storage, MySQL persistence, login and JWT generation are working.</a:t>
            </a:r>
          </a:p>
          <a:p>
            <a:pPr>
              <a:spcAft>
                <a:spcPts val="900"/>
              </a:spcAft>
              <a:defRPr sz="2000">
                <a:solidFill>
                  <a:srgbClr val="232A32"/>
                </a:solidFill>
              </a:defRPr>
            </a:pPr>
            <a:r>
              <a:t>• Postman and MySQL provide direct technical evidence of the implementation.</a:t>
            </a:r>
          </a:p>
          <a:p>
            <a:pPr>
              <a:spcAft>
                <a:spcPts val="900"/>
              </a:spcAft>
              <a:defRPr sz="2000">
                <a:solidFill>
                  <a:srgbClr val="232A32"/>
                </a:solidFill>
              </a:defRPr>
            </a:pPr>
            <a:r>
              <a:t>• The next milestone is connecting the remaining services through the planned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7825B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AgriIQ — Project Review 2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1087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abhinavkongari8845@gmail.com</cp:lastModifiedBy>
  <cp:revision>1</cp:revision>
  <dcterms:created xsi:type="dcterms:W3CDTF">2013-01-27T09:14:16Z</dcterms:created>
  <dcterms:modified xsi:type="dcterms:W3CDTF">2026-09-22T10:07:57Z</dcterms:modified>
  <cp:category/>
</cp:coreProperties>
</file>