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8669DD-9948-49A8-89E3-3DDC053F8B35}" v="33" dt="2026-08-20T01:29:18.6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navkongari8845@gmail.com" userId="c6ff66c05651282b" providerId="LiveId" clId="{062C77A7-07B2-4617-A2BF-0E50FE25A043}"/>
    <pc:docChg chg="undo custSel modSld">
      <pc:chgData name="abhinavkongari8845@gmail.com" userId="c6ff66c05651282b" providerId="LiveId" clId="{062C77A7-07B2-4617-A2BF-0E50FE25A043}" dt="2026-08-20T01:29:31.128" v="81"/>
      <pc:docMkLst>
        <pc:docMk/>
      </pc:docMkLst>
      <pc:sldChg chg="modSp mod">
        <pc:chgData name="abhinavkongari8845@gmail.com" userId="c6ff66c05651282b" providerId="LiveId" clId="{062C77A7-07B2-4617-A2BF-0E50FE25A043}" dt="2026-08-20T01:23:28.100" v="7" actId="27636"/>
        <pc:sldMkLst>
          <pc:docMk/>
          <pc:sldMk cId="4118855268" sldId="260"/>
        </pc:sldMkLst>
        <pc:spChg chg="mod">
          <ac:chgData name="abhinavkongari8845@gmail.com" userId="c6ff66c05651282b" providerId="LiveId" clId="{062C77A7-07B2-4617-A2BF-0E50FE25A043}" dt="2026-08-20T01:23:28.100" v="7" actId="27636"/>
          <ac:spMkLst>
            <pc:docMk/>
            <pc:sldMk cId="4118855268" sldId="260"/>
            <ac:spMk id="2" creationId="{3F0303AA-CEE8-2513-1736-59CB3A5EF8E4}"/>
          </ac:spMkLst>
        </pc:spChg>
      </pc:sldChg>
      <pc:sldChg chg="addSp delSp modSp mod">
        <pc:chgData name="abhinavkongari8845@gmail.com" userId="c6ff66c05651282b" providerId="LiveId" clId="{062C77A7-07B2-4617-A2BF-0E50FE25A043}" dt="2026-08-20T01:29:31.128" v="81"/>
        <pc:sldMkLst>
          <pc:docMk/>
          <pc:sldMk cId="2247602601" sldId="262"/>
        </pc:sldMkLst>
        <pc:spChg chg="add del mod">
          <ac:chgData name="abhinavkongari8845@gmail.com" userId="c6ff66c05651282b" providerId="LiveId" clId="{062C77A7-07B2-4617-A2BF-0E50FE25A043}" dt="2026-08-20T01:29:31.128" v="81"/>
          <ac:spMkLst>
            <pc:docMk/>
            <pc:sldMk cId="2247602601" sldId="262"/>
            <ac:spMk id="2" creationId="{924D67A9-9CA2-4686-87C7-D836560A6E5B}"/>
          </ac:spMkLst>
        </pc:spChg>
        <pc:spChg chg="del mod">
          <ac:chgData name="abhinavkongari8845@gmail.com" userId="c6ff66c05651282b" providerId="LiveId" clId="{062C77A7-07B2-4617-A2BF-0E50FE25A043}" dt="2026-08-20T01:29:31.111" v="79" actId="478"/>
          <ac:spMkLst>
            <pc:docMk/>
            <pc:sldMk cId="2247602601" sldId="262"/>
            <ac:spMk id="35" creationId="{8FB49AA0-2464-6225-6B6C-063F9A6ECD20}"/>
          </ac:spMkLst>
        </pc:spChg>
        <pc:graphicFrameChg chg="mod modGraphic">
          <ac:chgData name="abhinavkongari8845@gmail.com" userId="c6ff66c05651282b" providerId="LiveId" clId="{062C77A7-07B2-4617-A2BF-0E50FE25A043}" dt="2026-08-20T01:29:06.767" v="57" actId="20577"/>
          <ac:graphicFrameMkLst>
            <pc:docMk/>
            <pc:sldMk cId="2247602601" sldId="262"/>
            <ac:graphicFrameMk id="18" creationId="{BD22BC4D-4857-7D81-7819-37B7BB426420}"/>
          </ac:graphicFrameMkLst>
        </pc:graphicFrameChg>
        <pc:graphicFrameChg chg="mod modGraphic">
          <ac:chgData name="abhinavkongari8845@gmail.com" userId="c6ff66c05651282b" providerId="LiveId" clId="{062C77A7-07B2-4617-A2BF-0E50FE25A043}" dt="2026-08-20T01:28:50.477" v="37" actId="255"/>
          <ac:graphicFrameMkLst>
            <pc:docMk/>
            <pc:sldMk cId="2247602601" sldId="262"/>
            <ac:graphicFrameMk id="30" creationId="{9091FADF-77DB-CB1D-CD72-56C53CF76308}"/>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20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20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20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20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455678275"/>
              </p:ext>
            </p:extLst>
          </p:nvPr>
        </p:nvGraphicFramePr>
        <p:xfrm>
          <a:off x="8193271" y="4898509"/>
          <a:ext cx="3702050" cy="97536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KONGARI ABHINAV-2420030263</a:t>
                      </a:r>
                    </a:p>
                    <a:p>
                      <a:pPr marL="0" algn="l" defTabSz="914400" rtl="0" eaLnBrk="1" latinLnBrk="0" hangingPunct="1"/>
                      <a:r>
                        <a:rPr lang="en-IN" sz="1400" b="1" kern="1200" dirty="0">
                          <a:solidFill>
                            <a:schemeClr val="tx1"/>
                          </a:solidFill>
                          <a:effectLst/>
                          <a:latin typeface="Times New Roman" panose="02020603050405020304" pitchFamily="18" charset="0"/>
                          <a:ea typeface="+mn-ea"/>
                          <a:cs typeface="Times New Roman" panose="02020603050405020304" pitchFamily="18" charset="0"/>
                        </a:rPr>
                        <a:t>SONTIREDDY SRINIKA-</a:t>
                      </a:r>
                      <a:r>
                        <a:rPr lang="en-US" sz="1400" b="1" kern="1200" dirty="0">
                          <a:solidFill>
                            <a:schemeClr val="tx1"/>
                          </a:solidFill>
                          <a:effectLst/>
                          <a:latin typeface="Times New Roman" panose="02020603050405020304" pitchFamily="18" charset="0"/>
                          <a:ea typeface="+mn-ea"/>
                          <a:cs typeface="Times New Roman" panose="02020603050405020304" pitchFamily="18" charset="0"/>
                        </a:rPr>
                        <a:t>2420030617</a:t>
                      </a:r>
                      <a:br>
                        <a:rPr lang="en-US" sz="1400" b="1" kern="1200" dirty="0">
                          <a:solidFill>
                            <a:schemeClr val="tx1"/>
                          </a:solidFill>
                          <a:effectLst/>
                          <a:latin typeface="Times New Roman" panose="02020603050405020304" pitchFamily="18" charset="0"/>
                          <a:ea typeface="+mn-ea"/>
                          <a:cs typeface="Times New Roman" panose="02020603050405020304" pitchFamily="18" charset="0"/>
                        </a:rPr>
                      </a:br>
                      <a:r>
                        <a:rPr lang="en-IN" sz="1400" b="1" kern="1200" dirty="0">
                          <a:solidFill>
                            <a:schemeClr val="tx1"/>
                          </a:solidFill>
                          <a:effectLst/>
                          <a:latin typeface="Times New Roman" panose="02020603050405020304" pitchFamily="18" charset="0"/>
                          <a:ea typeface="+mn-ea"/>
                          <a:cs typeface="Times New Roman" panose="02020603050405020304" pitchFamily="18" charset="0"/>
                        </a:rPr>
                        <a:t>ISRAJIWADI SRIVALLI-</a:t>
                      </a:r>
                      <a:r>
                        <a:rPr lang="en-US" sz="1400" b="1" kern="1200" dirty="0">
                          <a:solidFill>
                            <a:schemeClr val="tx1"/>
                          </a:solidFill>
                          <a:effectLst/>
                          <a:latin typeface="Times New Roman" panose="02020603050405020304" pitchFamily="18" charset="0"/>
                          <a:ea typeface="+mn-ea"/>
                          <a:cs typeface="Times New Roman" panose="02020603050405020304" pitchFamily="18" charset="0"/>
                        </a:rPr>
                        <a:t>2420030742</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137703789"/>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a:t>
                      </a:r>
                      <a:r>
                        <a:rPr lang="en-US" sz="1400" b="1" kern="1200" dirty="0">
                          <a:solidFill>
                            <a:schemeClr val="tx1"/>
                          </a:solidFill>
                          <a:effectLst/>
                          <a:latin typeface="+mn-lt"/>
                          <a:ea typeface="+mn-ea"/>
                          <a:cs typeface="+mn-cs"/>
                        </a:rPr>
                        <a:t>Dr. Neelima Gogineni</a:t>
                      </a: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523220"/>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AgriIQ: AI-Driven Crop Recommendation &amp; Agricultural Advisory System</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 Box slide3.xml"/>
          <p:cNvSpPr txBox="1"/>
          <p:nvPr/>
        </p:nvSpPr>
        <p:spPr>
          <a:xfrm>
            <a:off x="838200" y="1500000"/>
            <a:ext cx="10515600" cy="4800000"/>
          </a:xfrm>
          <a:prstGeom prst="rect">
            <a:avLst/>
          </a:prstGeom>
          <a:noFill/>
        </p:spPr>
        <p:txBody>
          <a:bodyPr wrap="square">
            <a:normAutofit/>
          </a:bodyPr>
          <a:lstStyle/>
          <a:p>
            <a:pPr marL="285750" indent="-285750">
              <a:buFont typeface="Arial" panose="020B0604020202020204" pitchFamily="34" charset="0"/>
              <a:buChar char="•"/>
            </a:pPr>
            <a:r>
              <a:rPr lang="en-US" sz="1800" dirty="0">
                <a:latin typeface="Times New Roman" pitchFamily="18" charset="0"/>
                <a:cs typeface="Times New Roman" pitchFamily="18" charset="0"/>
              </a:rPr>
              <a:t>Farmers often choose crops based on tradition and guesswork rather than the actual soil nutrients (N, P, K), pH, temperature, humidity, and rainfall of their land, leading to reduced yield and wasted resources.</a:t>
            </a:r>
          </a:p>
          <a:p>
            <a:pPr marL="285750" indent="-285750">
              <a:buFont typeface="Arial" panose="020B0604020202020204" pitchFamily="34" charset="0"/>
              <a:buChar char="•"/>
            </a:pPr>
            <a:r>
              <a:rPr lang="en-US" sz="1800" dirty="0">
                <a:latin typeface="Times New Roman" pitchFamily="18" charset="0"/>
                <a:cs typeface="Times New Roman" pitchFamily="18" charset="0"/>
              </a:rPr>
              <a:t>Timely, reliable advisory information on fertilizer usage, irrigation, and pest management is not always accessible to small and marginal farmers once a crop has been chosen.</a:t>
            </a:r>
          </a:p>
          <a:p>
            <a:pPr marL="285750" indent="-285750">
              <a:buFont typeface="Arial" panose="020B0604020202020204" pitchFamily="34" charset="0"/>
              <a:buChar char="•"/>
            </a:pPr>
            <a:r>
              <a:rPr lang="en-US" sz="1800" dirty="0">
                <a:latin typeface="Times New Roman" pitchFamily="18" charset="0"/>
                <a:cs typeface="Times New Roman" pitchFamily="18" charset="0"/>
              </a:rPr>
              <a:t>Existing ML/DL-based crop recommendation research mostly stays at the model-accuracy stage and is rarely delivered as a secure, deployable, multi-user application.</a:t>
            </a:r>
          </a:p>
          <a:p>
            <a:pPr marL="285750" indent="-285750">
              <a:buFont typeface="Arial" panose="020B0604020202020204" pitchFamily="34" charset="0"/>
              <a:buChar char="•"/>
            </a:pPr>
            <a:r>
              <a:rPr lang="en-US" sz="1800" dirty="0">
                <a:latin typeface="Times New Roman" pitchFamily="18" charset="0"/>
                <a:cs typeface="Times New Roman" pitchFamily="18" charset="0"/>
              </a:rPr>
              <a:t>There is a need for an accessible, secure system that combines crop recommendation with practical, crop-specific advisory guidance in one platform.</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 Box slide4.xml"/>
          <p:cNvSpPr txBox="1"/>
          <p:nvPr/>
        </p:nvSpPr>
        <p:spPr>
          <a:xfrm>
            <a:off x="838200" y="1500000"/>
            <a:ext cx="10515600" cy="4800000"/>
          </a:xfrm>
          <a:prstGeom prst="rect">
            <a:avLst/>
          </a:prstGeom>
          <a:noFill/>
        </p:spPr>
        <p:txBody>
          <a:bodyPr wrap="square">
            <a:normAutofit/>
          </a:bodyPr>
          <a:lstStyle/>
          <a:p>
            <a:pPr marL="285750" indent="-285750">
              <a:buFont typeface="Arial" panose="020B0604020202020204" pitchFamily="34" charset="0"/>
              <a:buChar char="•"/>
            </a:pPr>
            <a:r>
              <a:rPr lang="en-US" sz="1800" dirty="0">
                <a:latin typeface="Times New Roman" pitchFamily="18" charset="0"/>
                <a:cs typeface="Times New Roman" pitchFamily="18" charset="0"/>
              </a:rPr>
              <a:t>To design and implement AgriIQ, a Service-Oriented Architecture (SOA) based system using Spring Boot, Spring Cloud Gateway, and JWT authentication.</a:t>
            </a:r>
          </a:p>
          <a:p>
            <a:pPr marL="285750" indent="-285750">
              <a:buFont typeface="Arial" panose="020B0604020202020204" pitchFamily="34" charset="0"/>
              <a:buChar char="•"/>
            </a:pPr>
            <a:r>
              <a:rPr lang="en-US" sz="1800" dirty="0">
                <a:latin typeface="Times New Roman" pitchFamily="18" charset="0"/>
                <a:cs typeface="Times New Roman" pitchFamily="18" charset="0"/>
              </a:rPr>
              <a:t>To build a Crop Recommendation Service that suggests suitable crops based on soil nutrients (N, P, K), pH, temperature, humidity, and rainfall.</a:t>
            </a:r>
          </a:p>
          <a:p>
            <a:pPr marL="285750" indent="-285750">
              <a:buFont typeface="Arial" panose="020B0604020202020204" pitchFamily="34" charset="0"/>
              <a:buChar char="•"/>
            </a:pPr>
            <a:r>
              <a:rPr lang="en-US" sz="1800" dirty="0">
                <a:latin typeface="Times New Roman" pitchFamily="18" charset="0"/>
                <a:cs typeface="Times New Roman" pitchFamily="18" charset="0"/>
              </a:rPr>
              <a:t>To build an Advisory Service that provides fertilizer, irrigation, and pest-management guidance for the recommended crop.</a:t>
            </a:r>
          </a:p>
          <a:p>
            <a:pPr marL="285750" indent="-285750">
              <a:buFont typeface="Arial" panose="020B0604020202020204" pitchFamily="34" charset="0"/>
              <a:buChar char="•"/>
            </a:pPr>
            <a:r>
              <a:rPr lang="en-US" sz="1800" dirty="0">
                <a:latin typeface="Times New Roman" pitchFamily="18" charset="0"/>
                <a:cs typeface="Times New Roman" pitchFamily="18" charset="0"/>
              </a:rPr>
              <a:t>To secure all services with JWT-based authentication and role-based access control (Farmer / Admin).</a:t>
            </a:r>
          </a:p>
          <a:p>
            <a:pPr marL="285750" indent="-285750">
              <a:buFont typeface="Arial" panose="020B0604020202020204" pitchFamily="34" charset="0"/>
              <a:buChar char="•"/>
            </a:pPr>
            <a:r>
              <a:rPr lang="en-US" sz="1800" dirty="0">
                <a:latin typeface="Times New Roman" pitchFamily="18" charset="0"/>
                <a:cs typeface="Times New Roman" pitchFamily="18" charset="0"/>
              </a:rPr>
              <a:t>To follow the database-per-service principle and validate the system using Postman API testing and a GitHub Actions CI/CD pipeline.</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344012633"/>
              </p:ext>
            </p:extLst>
          </p:nvPr>
        </p:nvGraphicFramePr>
        <p:xfrm>
          <a:off x="274646" y="689466"/>
          <a:ext cx="11642705" cy="510879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000000">
                <a:tc>
                  <a:txBody>
                    <a:bodyPr/>
                    <a:lstStyle/>
                    <a:p>
                      <a:pPr algn="l">
                        <a:buNone/>
                      </a:pPr>
                      <a:r>
                        <a:rPr lang="en-US" sz="1200" b="0" i="0" u="none" kern="1200" dirty="0">
                          <a:solidFill>
                            <a:schemeClr val="dk1"/>
                          </a:solidFill>
                          <a:latin typeface="Times New Roman" panose="02020603050405020304" pitchFamily="18" charset="0"/>
                          <a:cs typeface="Times New Roman" panose="02020603050405020304" pitchFamily="18" charset="0"/>
                        </a:rPr>
                        <a:t>Dahiphale et al. [3]</a:t>
                      </a:r>
                    </a:p>
                  </a:txBody>
                  <a:tcPr>
                    <a:solidFill>
                      <a:srgbClr val="DCE6F1"/>
                    </a:solidFill>
                  </a:tcPr>
                </a:tc>
                <a:tc>
                  <a:txBody>
                    <a:bodyPr/>
                    <a:lstStyle/>
                    <a:p>
                      <a:pPr algn="l">
                        <a:buNone/>
                      </a:pPr>
                      <a:r>
                        <a:rPr lang="en-US" sz="1200" b="0" i="0" u="none" kern="1200" dirty="0">
                          <a:solidFill>
                            <a:schemeClr val="dk1"/>
                          </a:solidFill>
                          <a:latin typeface="Times New Roman" panose="02020603050405020304" pitchFamily="18" charset="0"/>
                          <a:cs typeface="Times New Roman" panose="02020603050405020304" pitchFamily="18" charset="0"/>
                        </a:rPr>
                        <a:t>Smart Farming: Crop Recommendation using ML, IEEE Access, 2023</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Compared KNN, Decision Tree, Random Forest on soil + weather features</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Random Forest gave the best accuracy (~95%) among the models tested</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Stops at model benchmarking; no deployable app or service architecture</a:t>
                      </a:r>
                    </a:p>
                  </a:txBody>
                  <a:tcPr>
                    <a:solidFill>
                      <a:srgbClr val="DCE6F1"/>
                    </a:solidFill>
                  </a:tcPr>
                </a:tc>
                <a:extLst>
                  <a:ext uri="{0D108BD9-81ED-4DB2-BD59-A6C34878D82A}">
                    <a16:rowId xmlns:a16="http://schemas.microsoft.com/office/drawing/2014/main" val="10001"/>
                  </a:ext>
                </a:extLst>
              </a:tr>
              <a:tr h="1000000">
                <a:tc>
                  <a:txBody>
                    <a:bodyPr/>
                    <a:lstStyle/>
                    <a:p>
                      <a:pPr algn="l">
                        <a:buNone/>
                      </a:pPr>
                      <a:r>
                        <a:rPr lang="en-US" sz="1200" b="0" i="0" u="none" kern="1200" dirty="0">
                          <a:solidFill>
                            <a:schemeClr val="dk1"/>
                          </a:solidFill>
                          <a:latin typeface="Times New Roman" panose="02020603050405020304" pitchFamily="18" charset="0"/>
                          <a:cs typeface="Times New Roman" panose="02020603050405020304" pitchFamily="18" charset="0"/>
                        </a:rPr>
                        <a:t>Gosai et al. [4]</a:t>
                      </a:r>
                    </a:p>
                  </a:txBody>
                  <a:tcPr>
                    <a:solidFill>
                      <a:srgbClr val="DCE6F1"/>
                    </a:solidFill>
                  </a:tcPr>
                </a:tc>
                <a:tc>
                  <a:txBody>
                    <a:bodyPr/>
                    <a:lstStyle/>
                    <a:p>
                      <a:pPr algn="l">
                        <a:buNone/>
                      </a:pPr>
                      <a:r>
                        <a:rPr lang="en-US" sz="1200" b="0" i="0" u="none" kern="1200" dirty="0">
                          <a:solidFill>
                            <a:schemeClr val="dk1"/>
                          </a:solidFill>
                          <a:latin typeface="Times New Roman" panose="02020603050405020304" pitchFamily="18" charset="0"/>
                          <a:cs typeface="Times New Roman" panose="02020603050405020304" pitchFamily="18" charset="0"/>
                        </a:rPr>
                        <a:t>Crop Recommendation System using ML, IJSRCSEIT, 2021</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Random Forest + Genetic Algorithm tuning on N, P, K, pH, weather data</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~99.3% accuracy recommending the right crop among 22 crop classes</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Offline model only; no secure multi-user or service-based deployment</a:t>
                      </a:r>
                    </a:p>
                  </a:txBody>
                  <a:tcPr>
                    <a:solidFill>
                      <a:srgbClr val="DCE6F1"/>
                    </a:solidFill>
                  </a:tcPr>
                </a:tc>
                <a:extLst>
                  <a:ext uri="{0D108BD9-81ED-4DB2-BD59-A6C34878D82A}">
                    <a16:rowId xmlns:a16="http://schemas.microsoft.com/office/drawing/2014/main" val="10002"/>
                  </a:ext>
                </a:extLst>
              </a:tr>
              <a:tr h="1000000">
                <a:tc>
                  <a:txBody>
                    <a:bodyPr/>
                    <a:lstStyle/>
                    <a:p>
                      <a:pPr algn="l">
                        <a:buNone/>
                      </a:pPr>
                      <a:r>
                        <a:rPr lang="en-US" sz="1200" b="0" i="0" u="none" kern="1200" dirty="0">
                          <a:solidFill>
                            <a:schemeClr val="dk1"/>
                          </a:solidFill>
                          <a:latin typeface="Times New Roman" panose="02020603050405020304" pitchFamily="18" charset="0"/>
                          <a:cs typeface="Times New Roman" panose="02020603050405020304" pitchFamily="18" charset="0"/>
                        </a:rPr>
                        <a:t>Advancing CRS with XAI [5]</a:t>
                      </a:r>
                    </a:p>
                  </a:txBody>
                  <a:tcPr>
                    <a:solidFill>
                      <a:srgbClr val="DCE6F1"/>
                    </a:solidFill>
                  </a:tcPr>
                </a:tc>
                <a:tc>
                  <a:txBody>
                    <a:bodyPr/>
                    <a:lstStyle/>
                    <a:p>
                      <a:pPr algn="l">
                        <a:buNone/>
                      </a:pPr>
                      <a:r>
                        <a:rPr lang="en-US" sz="1200" b="0" i="0" u="none" kern="1200" dirty="0">
                          <a:solidFill>
                            <a:schemeClr val="dk1"/>
                          </a:solidFill>
                          <a:latin typeface="Times New Roman" panose="02020603050405020304" pitchFamily="18" charset="0"/>
                          <a:cs typeface="Times New Roman" panose="02020603050405020304" pitchFamily="18" charset="0"/>
                        </a:rPr>
                        <a:t>Advancing CRS with Supervised ML and Explainable AI, Sci. Reports, 2025</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Gradient Boosting model + Explainable AI (XAI) for interpretability</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~99.27% accuracy; XAI used to justify recommendations to agronomists</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Research prototype only; no auth, SOA design, or advisory component</a:t>
                      </a:r>
                    </a:p>
                  </a:txBody>
                  <a:tcPr>
                    <a:solidFill>
                      <a:srgbClr val="DCE6F1"/>
                    </a:solidFill>
                  </a:tcPr>
                </a:tc>
                <a:extLst>
                  <a:ext uri="{0D108BD9-81ED-4DB2-BD59-A6C34878D82A}">
                    <a16:rowId xmlns:a16="http://schemas.microsoft.com/office/drawing/2014/main" val="10003"/>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 Box slide6.xml"/>
          <p:cNvSpPr txBox="1"/>
          <p:nvPr/>
        </p:nvSpPr>
        <p:spPr>
          <a:xfrm>
            <a:off x="838200" y="2500000"/>
            <a:ext cx="10515600" cy="3900000"/>
          </a:xfrm>
          <a:prstGeom prst="rect">
            <a:avLst/>
          </a:prstGeom>
          <a:noFill/>
        </p:spPr>
        <p:txBody>
          <a:bodyPr wrap="square">
            <a:normAutofit/>
          </a:bodyPr>
          <a:lstStyle/>
          <a:p>
            <a:pPr marL="285750" indent="-285750">
              <a:buFont typeface="Arial" panose="020B0604020202020204" pitchFamily="34" charset="0"/>
              <a:buChar char="•"/>
            </a:pPr>
            <a:r>
              <a:rPr lang="en-US" sz="1800" dirty="0">
                <a:latin typeface="Times New Roman" pitchFamily="18" charset="0"/>
                <a:cs typeface="Times New Roman" pitchFamily="18" charset="0"/>
              </a:rPr>
              <a:t>Most existing crop recommendation research (SVM, Random Forest, Gradient Boosting) focuses on maximizing model accuracy but stops at the notebook or research-paper stage.</a:t>
            </a:r>
          </a:p>
          <a:p>
            <a:pPr marL="285750" indent="-285750">
              <a:buFont typeface="Arial" panose="020B0604020202020204" pitchFamily="34" charset="0"/>
              <a:buChar char="•"/>
            </a:pPr>
            <a:r>
              <a:rPr lang="en-US" sz="1800" dirty="0">
                <a:latin typeface="Times New Roman" pitchFamily="18" charset="0"/>
                <a:cs typeface="Times New Roman" pitchFamily="18" charset="0"/>
              </a:rPr>
              <a:t>Very few solutions are packaged as secure, deployable, multi-user web systems with authentication and role management.</a:t>
            </a:r>
          </a:p>
          <a:p>
            <a:pPr marL="285750" indent="-285750">
              <a:buFont typeface="Arial" panose="020B0604020202020204" pitchFamily="34" charset="0"/>
              <a:buChar char="•"/>
            </a:pPr>
            <a:r>
              <a:rPr lang="en-US" sz="1800" dirty="0">
                <a:latin typeface="Times New Roman" pitchFamily="18" charset="0"/>
                <a:cs typeface="Times New Roman" pitchFamily="18" charset="0"/>
              </a:rPr>
              <a:t>Crop prediction and agricultural advisory (fertilizer, irrigation, pest guidance) are rarely combined into a single, connected platform for the farmer.</a:t>
            </a:r>
          </a:p>
          <a:p>
            <a:pPr marL="285750" indent="-285750">
              <a:buFont typeface="Arial" panose="020B0604020202020204" pitchFamily="34" charset="0"/>
              <a:buChar char="•"/>
            </a:pPr>
            <a:r>
              <a:rPr lang="en-US" sz="1800" dirty="0">
                <a:latin typeface="Times New Roman" pitchFamily="18" charset="0"/>
                <a:cs typeface="Times New Roman" pitchFamily="18" charset="0"/>
              </a:rPr>
              <a:t>Existing systems are typically monolithic in design, making them harder to scale, secure, or extend service by service as new features are added.</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 Box slide7.xml"/>
          <p:cNvSpPr txBox="1"/>
          <p:nvPr/>
        </p:nvSpPr>
        <p:spPr>
          <a:xfrm>
            <a:off x="838200" y="2500000"/>
            <a:ext cx="10515600" cy="3900000"/>
          </a:xfrm>
          <a:prstGeom prst="rect">
            <a:avLst/>
          </a:prstGeom>
          <a:noFill/>
        </p:spPr>
        <p:txBody>
          <a:bodyPr wrap="square">
            <a:normAutofit/>
          </a:bodyPr>
          <a:lstStyle/>
          <a:p>
            <a:pPr marL="285750" indent="-285750">
              <a:buFont typeface="Arial" panose="020B0604020202020204" pitchFamily="34" charset="0"/>
              <a:buChar char="•"/>
            </a:pPr>
            <a:r>
              <a:rPr lang="en-US" sz="1800" dirty="0">
                <a:latin typeface="Times New Roman" pitchFamily="18" charset="0"/>
                <a:cs typeface="Times New Roman" pitchFamily="18" charset="0"/>
              </a:rPr>
              <a:t>Combines crop recommendation with actionable agricultural advisory in a single connected platform, rather than a prediction-only tool.</a:t>
            </a:r>
          </a:p>
          <a:p>
            <a:pPr marL="285750" indent="-285750">
              <a:buFont typeface="Arial" panose="020B0604020202020204" pitchFamily="34" charset="0"/>
              <a:buChar char="•"/>
            </a:pPr>
            <a:r>
              <a:rPr lang="en-US" sz="1800" dirty="0">
                <a:latin typeface="Times New Roman" pitchFamily="18" charset="0"/>
                <a:cs typeface="Times New Roman" pitchFamily="18" charset="0"/>
              </a:rPr>
              <a:t>Designed as an SOA/microservices system (Auth, Crop Recommendation, Advisory Service) instead of a single monolithic script.</a:t>
            </a:r>
          </a:p>
          <a:p>
            <a:pPr marL="285750" indent="-285750">
              <a:buFont typeface="Arial" panose="020B0604020202020204" pitchFamily="34" charset="0"/>
              <a:buChar char="•"/>
            </a:pPr>
            <a:r>
              <a:rPr lang="en-US" sz="1800" dirty="0">
                <a:latin typeface="Times New Roman" pitchFamily="18" charset="0"/>
                <a:cs typeface="Times New Roman" pitchFamily="18" charset="0"/>
              </a:rPr>
              <a:t>Secures the platform with JWT-based authentication and role-based access, a layer typically missing from academic crop-recommendation prototypes.</a:t>
            </a:r>
          </a:p>
          <a:p>
            <a:pPr marL="285750" indent="-285750">
              <a:buFont typeface="Arial" panose="020B0604020202020204" pitchFamily="34" charset="0"/>
              <a:buChar char="•"/>
            </a:pPr>
            <a:r>
              <a:rPr lang="en-US" sz="1800" dirty="0">
                <a:latin typeface="Times New Roman" pitchFamily="18" charset="0"/>
                <a:cs typeface="Times New Roman" pitchFamily="18" charset="0"/>
              </a:rPr>
              <a:t>Follows a database-per-service architecture with independent scaling and CI/CD automation via GitHub Actions, reflecting production-style engineering practice.</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838200" y="2050000"/>
            <a:ext cx="10515600" cy="500000"/>
          </a:xfrm>
          <a:prstGeom prst="rect">
            <a:avLst/>
          </a:prstGeom>
          <a:noFill/>
        </p:spPr>
        <p:txBody>
          <a:bodyPr wrap="square">
            <a:normAutofit lnSpcReduction="10000"/>
          </a:bodyPr>
          <a:lstStyle/>
          <a:p>
            <a:pPr algn="ctr"/>
            <a:r>
              <a:rPr lang="en-US" sz="1400" b="1" dirty="0">
                <a:solidFill>
                  <a:srgbClr val="FF0000"/>
                </a:solidFill>
              </a:rPr>
              <a:t>The project is feasible within the review timeline using a rule-based (non-ML) recommendation engine, keeping the entire stack in Java/Spring Boot.</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950" name="Timeline Box"/>
          <p:cNvSpPr txBox="1"/>
          <p:nvPr/>
        </p:nvSpPr>
        <p:spPr>
          <a:xfrm>
            <a:off x="838200" y="2750000"/>
            <a:ext cx="10515600" cy="3700000"/>
          </a:xfrm>
          <a:prstGeom prst="rect">
            <a:avLst/>
          </a:prstGeom>
          <a:noFill/>
        </p:spPr>
        <p:txBody>
          <a:bodyPr wrap="square">
            <a:normAutofit/>
          </a:bodyPr>
          <a:lstStyle/>
          <a:p>
            <a:pPr marL="285750" indent="-285750">
              <a:buFont typeface="Arial" panose="020B0604020202020204" pitchFamily="34" charset="0"/>
              <a:buChar char="•"/>
            </a:pPr>
            <a:r>
              <a:rPr lang="en-US" sz="1600" b="1" dirty="0">
                <a:latin typeface="Times New Roman" pitchFamily="18" charset="0"/>
                <a:cs typeface="Times New Roman" pitchFamily="18" charset="0"/>
              </a:rPr>
              <a:t>Phase 1 (Week 1): </a:t>
            </a:r>
            <a:r>
              <a:rPr lang="en-US" sz="1600" dirty="0">
                <a:latin typeface="Times New Roman" pitchFamily="18" charset="0"/>
                <a:cs typeface="Times New Roman" pitchFamily="18" charset="0"/>
              </a:rPr>
              <a:t>Requirement analysis, architecture design, and database schema for all 3 services</a:t>
            </a:r>
          </a:p>
          <a:p>
            <a:pPr marL="285750" indent="-285750">
              <a:buFont typeface="Arial" panose="020B0604020202020204" pitchFamily="34" charset="0"/>
              <a:buChar char="•"/>
            </a:pPr>
            <a:r>
              <a:rPr lang="en-US" sz="1600" b="1" dirty="0">
                <a:latin typeface="Times New Roman" pitchFamily="18" charset="0"/>
                <a:cs typeface="Times New Roman" pitchFamily="18" charset="0"/>
              </a:rPr>
              <a:t>Phase 2 (Week 2-3): </a:t>
            </a:r>
            <a:r>
              <a:rPr lang="en-US" sz="1600" dirty="0">
                <a:latin typeface="Times New Roman" pitchFamily="18" charset="0"/>
                <a:cs typeface="Times New Roman" pitchFamily="18" charset="0"/>
              </a:rPr>
              <a:t>Auth Service – registration, login, JWT issuance, role management</a:t>
            </a:r>
          </a:p>
          <a:p>
            <a:pPr marL="285750" indent="-285750">
              <a:buFont typeface="Arial" panose="020B0604020202020204" pitchFamily="34" charset="0"/>
              <a:buChar char="•"/>
            </a:pPr>
            <a:r>
              <a:rPr lang="en-US" sz="1600" b="1" dirty="0">
                <a:latin typeface="Times New Roman" pitchFamily="18" charset="0"/>
                <a:cs typeface="Times New Roman" pitchFamily="18" charset="0"/>
              </a:rPr>
              <a:t>Phase 3 (Week 4-5): </a:t>
            </a:r>
            <a:r>
              <a:rPr lang="en-US" sz="1600" dirty="0">
                <a:latin typeface="Times New Roman" pitchFamily="18" charset="0"/>
                <a:cs typeface="Times New Roman" pitchFamily="18" charset="0"/>
              </a:rPr>
              <a:t>Crop Recommendation Service – rule-based logic, input validation, endpoints</a:t>
            </a:r>
          </a:p>
          <a:p>
            <a:pPr marL="285750" indent="-285750">
              <a:buFont typeface="Arial" panose="020B0604020202020204" pitchFamily="34" charset="0"/>
              <a:buChar char="•"/>
            </a:pPr>
            <a:r>
              <a:rPr lang="en-US" sz="1600" b="1" dirty="0">
                <a:latin typeface="Times New Roman" pitchFamily="18" charset="0"/>
                <a:cs typeface="Times New Roman" pitchFamily="18" charset="0"/>
              </a:rPr>
              <a:t>Phase 4 (Week 6): </a:t>
            </a:r>
            <a:r>
              <a:rPr lang="en-US" sz="1600" dirty="0">
                <a:latin typeface="Times New Roman" pitchFamily="18" charset="0"/>
                <a:cs typeface="Times New Roman" pitchFamily="18" charset="0"/>
              </a:rPr>
              <a:t>Advisory Service – crop care data and endpoints</a:t>
            </a:r>
          </a:p>
          <a:p>
            <a:pPr marL="285750" indent="-285750">
              <a:buFont typeface="Arial" panose="020B0604020202020204" pitchFamily="34" charset="0"/>
              <a:buChar char="•"/>
            </a:pPr>
            <a:r>
              <a:rPr lang="en-US" sz="1600" b="1" dirty="0">
                <a:latin typeface="Times New Roman" pitchFamily="18" charset="0"/>
                <a:cs typeface="Times New Roman" pitchFamily="18" charset="0"/>
              </a:rPr>
              <a:t>Phase 5 (Week 7): </a:t>
            </a:r>
            <a:r>
              <a:rPr lang="en-US" sz="1600" dirty="0">
                <a:latin typeface="Times New Roman" pitchFamily="18" charset="0"/>
                <a:cs typeface="Times New Roman" pitchFamily="18" charset="0"/>
              </a:rPr>
              <a:t>API Gateway integration, JWT validation across services, Postman testing</a:t>
            </a:r>
          </a:p>
          <a:p>
            <a:pPr marL="285750" indent="-285750">
              <a:buFont typeface="Arial" panose="020B0604020202020204" pitchFamily="34" charset="0"/>
              <a:buChar char="•"/>
            </a:pPr>
            <a:r>
              <a:rPr lang="en-US" sz="1600" b="1" dirty="0">
                <a:latin typeface="Times New Roman" pitchFamily="18" charset="0"/>
                <a:cs typeface="Times New Roman" pitchFamily="18" charset="0"/>
              </a:rPr>
              <a:t>Phase 6 (Week 8): </a:t>
            </a:r>
            <a:r>
              <a:rPr lang="en-US" sz="1600" dirty="0">
                <a:latin typeface="Times New Roman" pitchFamily="18" charset="0"/>
                <a:cs typeface="Times New Roman" pitchFamily="18" charset="0"/>
              </a:rPr>
              <a:t>React frontend, GitHub Actions CI/CD pipeline, and final documentation</a:t>
            </a:r>
          </a:p>
        </p:txBody>
      </p:sp>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TotalTime>
  <Words>819</Words>
  <Application>Microsoft Office PowerPoint</Application>
  <PresentationFormat>Widescreen</PresentationFormat>
  <Paragraphs>91</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abhinavkongari8845@gmail.com</cp:lastModifiedBy>
  <cp:revision>32</cp:revision>
  <dcterms:created xsi:type="dcterms:W3CDTF">2026-08-08T06:33:56Z</dcterms:created>
  <dcterms:modified xsi:type="dcterms:W3CDTF">2026-08-20T01:29:36Z</dcterms:modified>
</cp:coreProperties>
</file>